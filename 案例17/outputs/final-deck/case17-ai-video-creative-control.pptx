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讲述：这套方法关注创作过程如何变得可解释、可比较、可修正。
核心句：稳定输出来自一连串清晰判断，而不是等待一次完美生成。
转场：下一页先拆开“抽卡感”产生的链路。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讲述：把一次生成的随机感拆成输入、候选、判断和结果四个环节。
核心句：可控创作先把隐藏的标准变成可见步骤。
转场：第一步从提示词结构开始，让模型先理解画面。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讲述：三层提示词把背景、视觉语言和镜头事件分开处理。
核心句：动作、动机和结果要形成因果，而不是堆叠命令。
转场：提示词之外，还要把剧本中的生产要素组织成资产。
来源时间码：00:00:45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讲述：剧本进入生成前，需要转成角色、场景、道具、状态和参考图。
核心句：生成前的资产核对，比生成后的返工更便宜。
转场：资产准备完成后，单镜头进入批量试错。
来源时间码：00:18:25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讲述：把多次生成当作候选素材，而不是失败重试。
核心句：先定义可接受标准，再决定哪一段值得留下。
转场：单镜头可选之后，多分镜还要处理约束与自由。
来源时间码：00:25:20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讲述：多分镜要明确阶段、景别和运镜，但不需要把高速画面框死。
核心句：创作者锁定结果边界，模型负责探索画面细节。
转场：即使每段都可用，连续性仍要在后期重新建立。
来源时间码：00:30:00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讲述：后期通过层级、动作匹配、速度、光线和调色建立连接。
核心句：连续性不是最后补救，而是从生成阶段就要考虑的剪辑目标。
转场：这些步骤最终组成一个可以回环的完整流程。
来源时间码：00:33:54 / 00:36:40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讲述：把前面的做法合成从意图到复盘的八步闭环。
核心句：每个环节都要留下可检查的中间结果。
转场：最后把这套方法压缩成五条日常行动原则。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讲述：五条原则对应从生成前、生成中到后期的具体动作。
核心句：最稳定的控制来自评价标准，而不是更多参数。
转场：结尾把焦点从工具收回到创作者的判断。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讲述：工具扩展可生成的可能性，作品仍由作者的取舍完成。
核心句：创作者负责最后一次选择。
转场：结束演讲，进入讨论。
来源时间码：00:40:00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_WIDE">
    <p:bg>
      <p:bgPr>
        <a:solidFill>
          <a:srgbClr val="F2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 视频封面关键帧" descr="AI 视频封面关键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01112">
              <a:alpha val="84000"/>
            </a:srgbClr>
          </a:solidFill>
          <a:ln w="12700">
            <a:solidFill>
              <a:srgbClr val="1011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02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1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SCENE 01 · CREATIVE CONTROL</a:t>
            </a:r>
            <a:endParaRPr lang="en-US" sz="73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502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00:00:00:01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1901952"/>
            <a:ext cx="5303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AI 视频</a:t>
            </a:r>
            <a:endParaRPr lang="en-US" sz="45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487168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</a:t>
            </a:r>
            <a:pPr algn="l" indent="0" marL="0">
              <a:lnSpc>
                <a:spcPct val="100000"/>
              </a:lnSpc>
              <a:buNone/>
            </a:pPr>
            <a:r>
              <a:rPr lang="en-US" sz="4500" b="1" spc="-200" kern="0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抽卡</a:t>
            </a:r>
            <a:pPr algn="l" indent="0" marL="0">
              <a:lnSpc>
                <a:spcPct val="100000"/>
              </a:lnSpc>
              <a:buNone/>
            </a:pPr>
            <a:r>
              <a:rPr lang="en-US" sz="4500" b="1" spc="-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”变成</a:t>
            </a:r>
            <a:endParaRPr lang="en-US" sz="4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072384"/>
            <a:ext cx="5029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500" b="1" spc="-20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可控创作</a:t>
            </a:r>
            <a:endParaRPr lang="en-US" sz="4500" dirty="0"/>
          </a:p>
        </p:txBody>
      </p:sp>
      <p:sp>
        <p:nvSpPr>
          <p:cNvPr id="10" name="Text 7"/>
          <p:cNvSpPr txBox="1"/>
          <p:nvPr/>
        </p:nvSpPr>
        <p:spPr>
          <a:xfrm>
            <a:off x="722376" y="4700016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dirty="0">
                <a:solidFill>
                  <a:srgbClr val="DDD6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从提示词、资产画布和候选池，到剪辑中的连续性判断</a:t>
            </a:r>
            <a:endParaRPr lang="en-US" sz="1220" dirty="0"/>
          </a:p>
        </p:txBody>
      </p:sp>
      <p:sp>
        <p:nvSpPr>
          <p:cNvPr id="11" name="Shape 8"/>
          <p:cNvSpPr/>
          <p:nvPr/>
        </p:nvSpPr>
        <p:spPr>
          <a:xfrm>
            <a:off x="694944" y="6126480"/>
            <a:ext cx="10771632" cy="45720"/>
          </a:xfrm>
          <a:prstGeom prst="rect">
            <a:avLst/>
          </a:prstGeom>
          <a:solidFill>
            <a:srgbClr val="6A6A6A"/>
          </a:solidFill>
          <a:ln w="12700">
            <a:solidFill>
              <a:srgbClr val="6A6A6A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94944" y="6126480"/>
            <a:ext cx="6263640" cy="45720"/>
          </a:xfrm>
          <a:prstGeom prst="rect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31152" y="6071616"/>
            <a:ext cx="18288" cy="1554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6A6A6A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17 · METHOD DECK</a:t>
            </a:r>
            <a:endParaRPr lang="en-US" sz="620" dirty="0"/>
          </a:p>
        </p:txBody>
      </p:sp>
      <p:sp>
        <p:nvSpPr>
          <p:cNvPr id="16" name="Text 13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hero</a:t>
            </a:r>
            <a:endParaRPr lang="en-US" sz="620" dirty="0"/>
          </a:p>
        </p:txBody>
      </p:sp>
      <p:sp>
        <p:nvSpPr>
          <p:cNvPr id="17" name="Text 14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DIAGNOSIS / CONTROL GAP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“抽卡感”的失控链路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模型随机只占一部分，更大的问题是创作判断没有显性化</a:t>
            </a:r>
            <a:endParaRPr lang="en-US" sz="1120" dirty="0"/>
          </a:p>
        </p:txBody>
      </p:sp>
      <p:sp>
        <p:nvSpPr>
          <p:cNvPr id="5" name="Text 3"/>
          <p:cNvSpPr txBox="1"/>
          <p:nvPr/>
        </p:nvSpPr>
        <p:spPr>
          <a:xfrm>
            <a:off x="621792" y="21031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UNCONTROLLED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901952" y="1993392"/>
            <a:ext cx="9683496" cy="0"/>
          </a:xfrm>
          <a:prstGeom prst="line">
            <a:avLst/>
          </a:prstGeom>
          <a:noFill/>
          <a:ln w="12700">
            <a:solidFill>
              <a:srgbClr val="67635C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 txBox="1"/>
          <p:nvPr/>
        </p:nvSpPr>
        <p:spPr>
          <a:xfrm>
            <a:off x="1993392" y="21579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993392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输入模糊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3867912" y="2322576"/>
            <a:ext cx="329184" cy="0"/>
          </a:xfrm>
          <a:prstGeom prst="line">
            <a:avLst/>
          </a:prstGeom>
          <a:noFill/>
          <a:ln w="8890">
            <a:solidFill>
              <a:srgbClr val="67635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4389120" y="21579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389120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只留一次结果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6263640" y="2322576"/>
            <a:ext cx="329184" cy="0"/>
          </a:xfrm>
          <a:prstGeom prst="line">
            <a:avLst/>
          </a:prstGeom>
          <a:noFill/>
          <a:ln w="8890">
            <a:solidFill>
              <a:srgbClr val="67635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 txBox="1"/>
          <p:nvPr/>
        </p:nvSpPr>
        <p:spPr>
          <a:xfrm>
            <a:off x="6784848" y="21579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6784848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凭感觉挑片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659368" y="2322576"/>
            <a:ext cx="329184" cy="0"/>
          </a:xfrm>
          <a:prstGeom prst="line">
            <a:avLst/>
          </a:prstGeom>
          <a:noFill/>
          <a:ln w="8890">
            <a:solidFill>
              <a:srgbClr val="67635C"/>
            </a:solidFill>
            <a:prstDash val="solid"/>
            <a:headEnd type="none"/>
            <a:tailEnd type="none"/>
          </a:ln>
        </p:spPr>
      </p:sp>
      <p:sp>
        <p:nvSpPr>
          <p:cNvPr id="16" name="Text 14"/>
          <p:cNvSpPr txBox="1"/>
          <p:nvPr/>
        </p:nvSpPr>
        <p:spPr>
          <a:xfrm>
            <a:off x="9180576" y="2157984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9180576" y="250545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后期被动补救</a:t>
            </a:r>
            <a:endParaRPr lang="en-US" sz="1220" dirty="0"/>
          </a:p>
        </p:txBody>
      </p:sp>
      <p:sp>
        <p:nvSpPr>
          <p:cNvPr id="18" name="Text 16"/>
          <p:cNvSpPr txBox="1"/>
          <p:nvPr/>
        </p:nvSpPr>
        <p:spPr>
          <a:xfrm>
            <a:off x="621792" y="3968496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5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CONTROLLED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1901952" y="3858768"/>
            <a:ext cx="9683496" cy="0"/>
          </a:xfrm>
          <a:prstGeom prst="line">
            <a:avLst/>
          </a:prstGeom>
          <a:noFill/>
          <a:ln w="3810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20" name="Text 18"/>
          <p:cNvSpPr txBox="1"/>
          <p:nvPr/>
        </p:nvSpPr>
        <p:spPr>
          <a:xfrm>
            <a:off x="1993392" y="40233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993392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意图写清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3867912" y="4187952"/>
            <a:ext cx="329184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4389120" y="40233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4389120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建立候选池</a:t>
            </a:r>
            <a:endParaRPr lang="en-US" sz="1220" dirty="0"/>
          </a:p>
        </p:txBody>
      </p:sp>
      <p:sp>
        <p:nvSpPr>
          <p:cNvPr id="25" name="Shape 23"/>
          <p:cNvSpPr/>
          <p:nvPr/>
        </p:nvSpPr>
        <p:spPr>
          <a:xfrm>
            <a:off x="6263640" y="4187952"/>
            <a:ext cx="329184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6784848" y="40233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6784848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按标准比较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8659368" y="4187952"/>
            <a:ext cx="329184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9180576" y="4023360"/>
            <a:ext cx="4572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180576" y="43708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为连续性选片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612648" y="5367528"/>
            <a:ext cx="10972800" cy="0"/>
          </a:xfrm>
          <a:prstGeom prst="line">
            <a:avLst/>
          </a:prstGeom>
          <a:noFill/>
          <a:ln w="889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32" name="Text 30"/>
          <p:cNvSpPr txBox="1"/>
          <p:nvPr/>
        </p:nvSpPr>
        <p:spPr>
          <a:xfrm>
            <a:off x="612648" y="5513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01</a:t>
            </a:r>
            <a:endParaRPr lang="en-US" sz="670" dirty="0"/>
          </a:p>
        </p:txBody>
      </p:sp>
      <p:sp>
        <p:nvSpPr>
          <p:cNvPr id="33" name="Text 31"/>
          <p:cNvSpPr txBox="1"/>
          <p:nvPr/>
        </p:nvSpPr>
        <p:spPr>
          <a:xfrm>
            <a:off x="612648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输入没有显性化</a:t>
            </a:r>
            <a:endParaRPr lang="en-US" sz="1230" dirty="0"/>
          </a:p>
        </p:txBody>
      </p:sp>
      <p:sp>
        <p:nvSpPr>
          <p:cNvPr id="34" name="Shape 32"/>
          <p:cNvSpPr/>
          <p:nvPr/>
        </p:nvSpPr>
        <p:spPr>
          <a:xfrm>
            <a:off x="4270248" y="5367528"/>
            <a:ext cx="0" cy="749808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4471416" y="5513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02</a:t>
            </a:r>
            <a:endParaRPr lang="en-US" sz="670" dirty="0"/>
          </a:p>
        </p:txBody>
      </p:sp>
      <p:sp>
        <p:nvSpPr>
          <p:cNvPr id="36" name="Text 34"/>
          <p:cNvSpPr txBox="1"/>
          <p:nvPr/>
        </p:nvSpPr>
        <p:spPr>
          <a:xfrm>
            <a:off x="4471416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评价标准没有显性化</a:t>
            </a:r>
            <a:endParaRPr lang="en-US" sz="1230" dirty="0"/>
          </a:p>
        </p:txBody>
      </p:sp>
      <p:sp>
        <p:nvSpPr>
          <p:cNvPr id="37" name="Shape 35"/>
          <p:cNvSpPr/>
          <p:nvPr/>
        </p:nvSpPr>
        <p:spPr>
          <a:xfrm>
            <a:off x="7927848" y="5367528"/>
            <a:ext cx="0" cy="749808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38" name="Text 36"/>
          <p:cNvSpPr txBox="1"/>
          <p:nvPr/>
        </p:nvSpPr>
        <p:spPr>
          <a:xfrm>
            <a:off x="8129016" y="551383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ROOT 03</a:t>
            </a:r>
            <a:endParaRPr lang="en-US" sz="670" dirty="0"/>
          </a:p>
        </p:txBody>
      </p:sp>
      <p:sp>
        <p:nvSpPr>
          <p:cNvPr id="39" name="Text 37"/>
          <p:cNvSpPr txBox="1"/>
          <p:nvPr/>
        </p:nvSpPr>
        <p:spPr>
          <a:xfrm>
            <a:off x="8129016" y="57607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3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连续性目标没有显性化</a:t>
            </a:r>
            <a:endParaRPr lang="en-US" sz="1230" dirty="0"/>
          </a:p>
        </p:txBody>
      </p:sp>
      <p:sp>
        <p:nvSpPr>
          <p:cNvPr id="40" name="Shape 38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41" name="Text 39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17 · METHOD DECK</a:t>
            </a:r>
            <a:endParaRPr lang="en-US" sz="620" dirty="0"/>
          </a:p>
        </p:txBody>
      </p:sp>
      <p:sp>
        <p:nvSpPr>
          <p:cNvPr id="42" name="Text 40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43" name="Text 41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 / PROMPT STRUCTURE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提示词的三层结构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分别回答：是什么、像什么、怎么发生</a:t>
            </a:r>
            <a:endParaRPr lang="en-US" sz="1120" dirty="0"/>
          </a:p>
        </p:txBody>
      </p:sp>
      <p:pic>
        <p:nvPicPr>
          <p:cNvPr id="5" name="提示词结构证据" descr="提示词结构证据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66760" y="749808"/>
            <a:ext cx="3218688" cy="42245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66760" y="749808"/>
            <a:ext cx="3218688" cy="0"/>
          </a:xfrm>
          <a:prstGeom prst="line">
            <a:avLst/>
          </a:prstGeom>
          <a:noFill/>
          <a:ln w="6350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612648" y="1975104"/>
            <a:ext cx="7086600" cy="0"/>
          </a:xfrm>
          <a:prstGeom prst="line">
            <a:avLst/>
          </a:prstGeom>
          <a:noFill/>
          <a:ln w="889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8" name="Text 5"/>
          <p:cNvSpPr txBox="1"/>
          <p:nvPr/>
        </p:nvSpPr>
        <p:spPr>
          <a:xfrm>
            <a:off x="612648" y="2139696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709928" y="213055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基础设定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709928" y="2551176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EXISTS</a:t>
            </a:r>
            <a:endParaRPr lang="en-US" sz="670" dirty="0"/>
          </a:p>
        </p:txBody>
      </p:sp>
      <p:sp>
        <p:nvSpPr>
          <p:cNvPr id="11" name="Text 8"/>
          <p:cNvSpPr txBox="1"/>
          <p:nvPr/>
        </p:nvSpPr>
        <p:spPr>
          <a:xfrm>
            <a:off x="3913632" y="2112264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时间、地点、人物与参考图中的关键关系。</a:t>
            </a:r>
            <a:endParaRPr lang="en-US" sz="1180" dirty="0"/>
          </a:p>
        </p:txBody>
      </p:sp>
      <p:sp>
        <p:nvSpPr>
          <p:cNvPr id="12" name="Shape 9"/>
          <p:cNvSpPr/>
          <p:nvPr/>
        </p:nvSpPr>
        <p:spPr>
          <a:xfrm>
            <a:off x="612648" y="3172968"/>
            <a:ext cx="7086600" cy="0"/>
          </a:xfrm>
          <a:prstGeom prst="line">
            <a:avLst/>
          </a:prstGeom>
          <a:noFill/>
          <a:ln w="889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612648" y="3337560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800" dirty="0"/>
          </a:p>
        </p:txBody>
      </p:sp>
      <p:sp>
        <p:nvSpPr>
          <p:cNvPr id="14" name="Text 11"/>
          <p:cNvSpPr txBox="1"/>
          <p:nvPr/>
        </p:nvSpPr>
        <p:spPr>
          <a:xfrm>
            <a:off x="1709928" y="3328416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质感 / 画面语言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709928" y="374904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IT FEELS</a:t>
            </a:r>
            <a:endParaRPr lang="en-US" sz="670" dirty="0"/>
          </a:p>
        </p:txBody>
      </p:sp>
      <p:sp>
        <p:nvSpPr>
          <p:cNvPr id="16" name="Text 13"/>
          <p:cNvSpPr txBox="1"/>
          <p:nvPr/>
        </p:nvSpPr>
        <p:spPr>
          <a:xfrm>
            <a:off x="3913632" y="3310128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风格、影调、景别、构图与运镜边界。</a:t>
            </a:r>
            <a:endParaRPr lang="en-US" sz="1180" dirty="0"/>
          </a:p>
        </p:txBody>
      </p:sp>
      <p:sp>
        <p:nvSpPr>
          <p:cNvPr id="17" name="Shape 14"/>
          <p:cNvSpPr/>
          <p:nvPr/>
        </p:nvSpPr>
        <p:spPr>
          <a:xfrm>
            <a:off x="612648" y="4370832"/>
            <a:ext cx="7086600" cy="0"/>
          </a:xfrm>
          <a:prstGeom prst="line">
            <a:avLst/>
          </a:prstGeom>
          <a:noFill/>
          <a:ln w="889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 txBox="1"/>
          <p:nvPr/>
        </p:nvSpPr>
        <p:spPr>
          <a:xfrm>
            <a:off x="612648" y="4535424"/>
            <a:ext cx="7772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800" dirty="0"/>
          </a:p>
        </p:txBody>
      </p:sp>
      <p:sp>
        <p:nvSpPr>
          <p:cNvPr id="19" name="Text 16"/>
          <p:cNvSpPr txBox="1"/>
          <p:nvPr/>
        </p:nvSpPr>
        <p:spPr>
          <a:xfrm>
            <a:off x="1709928" y="45262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具体画面内容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709928" y="494690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7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HAPPENS</a:t>
            </a:r>
            <a:endParaRPr lang="en-US" sz="670" dirty="0"/>
          </a:p>
        </p:txBody>
      </p:sp>
      <p:sp>
        <p:nvSpPr>
          <p:cNvPr id="21" name="Text 18"/>
          <p:cNvSpPr txBox="1"/>
          <p:nvPr/>
        </p:nvSpPr>
        <p:spPr>
          <a:xfrm>
            <a:off x="3913632" y="4507992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8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动作因为什么发生，最后希望得到什么结果。</a:t>
            </a:r>
            <a:endParaRPr lang="en-US" sz="1180" dirty="0"/>
          </a:p>
        </p:txBody>
      </p:sp>
      <p:sp>
        <p:nvSpPr>
          <p:cNvPr id="22" name="Shape 19"/>
          <p:cNvSpPr/>
          <p:nvPr/>
        </p:nvSpPr>
        <p:spPr>
          <a:xfrm>
            <a:off x="612648" y="5788152"/>
            <a:ext cx="896112" cy="73152"/>
          </a:xfrm>
          <a:prstGeom prst="rect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746504" y="5614416"/>
            <a:ext cx="6675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模型需要理解画面关系，创作者需要先把判断写出来。</a:t>
            </a:r>
            <a:endParaRPr lang="en-US" sz="1270" dirty="0"/>
          </a:p>
        </p:txBody>
      </p:sp>
      <p:sp>
        <p:nvSpPr>
          <p:cNvPr id="24" name="Shape 21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25" name="Text 22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00:00:45</a:t>
            </a:r>
            <a:endParaRPr lang="en-US" sz="620" dirty="0"/>
          </a:p>
        </p:txBody>
      </p:sp>
      <p:sp>
        <p:nvSpPr>
          <p:cNvPr id="26" name="Text 23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27" name="Text 24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PRODUCTION BOARD / ASSET SYSTEM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从剧本到资产画布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生成之前，先把镜头所需元素变成可核对的资产系统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12648" y="1901952"/>
            <a:ext cx="109728" cy="3337560"/>
          </a:xfrm>
          <a:prstGeom prst="rect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2057400"/>
            <a:ext cx="1325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剧本 /</a:t>
            </a:r>
            <a:endParaRPr lang="en-US" sz="16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SHOT INTENT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86968" y="2816352"/>
            <a:ext cx="12984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镜头要发生什么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谁在画面里</a:t>
            </a:r>
            <a:endParaRPr lang="en-US" sz="96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96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哪些关系必须保持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724912" y="1993392"/>
            <a:ext cx="0" cy="3246120"/>
          </a:xfrm>
          <a:prstGeom prst="line">
            <a:avLst/>
          </a:prstGeom>
          <a:noFill/>
          <a:ln w="1016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2724912" y="2011680"/>
            <a:ext cx="3886200" cy="0"/>
          </a:xfrm>
          <a:prstGeom prst="line">
            <a:avLst/>
          </a:prstGeom>
          <a:noFill/>
          <a:ln w="6350">
            <a:solidFill>
              <a:srgbClr val="756F65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2688336" y="1975104"/>
            <a:ext cx="73152" cy="73152"/>
          </a:xfrm>
          <a:prstGeom prst="ellipse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880360" y="205740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6432" y="20391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</a:t>
            </a:r>
            <a:endParaRPr lang="en-US" sz="1360" dirty="0"/>
          </a:p>
        </p:txBody>
      </p:sp>
      <p:sp>
        <p:nvSpPr>
          <p:cNvPr id="13" name="Shape 11"/>
          <p:cNvSpPr/>
          <p:nvPr/>
        </p:nvSpPr>
        <p:spPr>
          <a:xfrm>
            <a:off x="2724912" y="2606040"/>
            <a:ext cx="3886200" cy="0"/>
          </a:xfrm>
          <a:prstGeom prst="line">
            <a:avLst/>
          </a:prstGeom>
          <a:noFill/>
          <a:ln w="6350">
            <a:solidFill>
              <a:srgbClr val="756F65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2688336" y="2569464"/>
            <a:ext cx="73152" cy="73152"/>
          </a:xfrm>
          <a:prstGeom prst="ellipse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880360" y="26517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3456432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360" dirty="0"/>
          </a:p>
        </p:txBody>
      </p:sp>
      <p:sp>
        <p:nvSpPr>
          <p:cNvPr id="17" name="Shape 15"/>
          <p:cNvSpPr/>
          <p:nvPr/>
        </p:nvSpPr>
        <p:spPr>
          <a:xfrm>
            <a:off x="2724912" y="3200400"/>
            <a:ext cx="3886200" cy="0"/>
          </a:xfrm>
          <a:prstGeom prst="line">
            <a:avLst/>
          </a:prstGeom>
          <a:noFill/>
          <a:ln w="6350">
            <a:solidFill>
              <a:srgbClr val="756F65"/>
            </a:solidFill>
            <a:prstDash val="solid"/>
            <a:headEnd type="none"/>
            <a:tailEnd type="none"/>
          </a:ln>
        </p:spPr>
      </p:sp>
      <p:sp>
        <p:nvSpPr>
          <p:cNvPr id="18" name="Shape 16"/>
          <p:cNvSpPr/>
          <p:nvPr/>
        </p:nvSpPr>
        <p:spPr>
          <a:xfrm>
            <a:off x="2688336" y="3163824"/>
            <a:ext cx="73152" cy="73152"/>
          </a:xfrm>
          <a:prstGeom prst="ellipse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880360" y="324612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456432" y="322783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</a:t>
            </a:r>
            <a:endParaRPr lang="en-US" sz="1360" dirty="0"/>
          </a:p>
        </p:txBody>
      </p:sp>
      <p:sp>
        <p:nvSpPr>
          <p:cNvPr id="21" name="Shape 19"/>
          <p:cNvSpPr/>
          <p:nvPr/>
        </p:nvSpPr>
        <p:spPr>
          <a:xfrm>
            <a:off x="2724912" y="3794760"/>
            <a:ext cx="3886200" cy="0"/>
          </a:xfrm>
          <a:prstGeom prst="line">
            <a:avLst/>
          </a:prstGeom>
          <a:noFill/>
          <a:ln w="6350">
            <a:solidFill>
              <a:srgbClr val="756F65"/>
            </a:solidFill>
            <a:prstDash val="solid"/>
            <a:headEnd type="none"/>
            <a:tailEnd type="none"/>
          </a:ln>
        </p:spPr>
      </p:sp>
      <p:sp>
        <p:nvSpPr>
          <p:cNvPr id="22" name="Shape 20"/>
          <p:cNvSpPr/>
          <p:nvPr/>
        </p:nvSpPr>
        <p:spPr>
          <a:xfrm>
            <a:off x="2688336" y="3758184"/>
            <a:ext cx="73152" cy="73152"/>
          </a:xfrm>
          <a:prstGeom prst="ellipse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880360" y="3840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456432" y="38221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360" dirty="0"/>
          </a:p>
        </p:txBody>
      </p:sp>
      <p:sp>
        <p:nvSpPr>
          <p:cNvPr id="25" name="Shape 23"/>
          <p:cNvSpPr/>
          <p:nvPr/>
        </p:nvSpPr>
        <p:spPr>
          <a:xfrm>
            <a:off x="2724912" y="4389120"/>
            <a:ext cx="3886200" cy="0"/>
          </a:xfrm>
          <a:prstGeom prst="line">
            <a:avLst/>
          </a:prstGeom>
          <a:noFill/>
          <a:ln w="6350">
            <a:solidFill>
              <a:srgbClr val="756F65"/>
            </a:solidFill>
            <a:prstDash val="solid"/>
            <a:headEnd type="none"/>
            <a:tailEnd type="none"/>
          </a:ln>
        </p:spPr>
      </p:sp>
      <p:sp>
        <p:nvSpPr>
          <p:cNvPr id="26" name="Shape 24"/>
          <p:cNvSpPr/>
          <p:nvPr/>
        </p:nvSpPr>
        <p:spPr>
          <a:xfrm>
            <a:off x="2688336" y="4352544"/>
            <a:ext cx="73152" cy="73152"/>
          </a:xfrm>
          <a:prstGeom prst="ellipse">
            <a:avLst/>
          </a:prstGeom>
          <a:solidFill>
            <a:srgbClr val="F34A2A"/>
          </a:solidFill>
          <a:ln w="12700">
            <a:solidFill>
              <a:srgbClr val="F34A2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880360" y="44348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56432" y="44165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6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参考图</a:t>
            </a:r>
            <a:endParaRPr lang="en-US" sz="1360" dirty="0"/>
          </a:p>
        </p:txBody>
      </p:sp>
      <p:pic>
        <p:nvPicPr>
          <p:cNvPr id="29" name="资产画布证据" descr="资产画布证据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40880" y="1865376"/>
            <a:ext cx="4544568" cy="2907792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7040880" y="1865376"/>
            <a:ext cx="4544568" cy="0"/>
          </a:xfrm>
          <a:prstGeom prst="line">
            <a:avLst/>
          </a:prstGeom>
          <a:noFill/>
          <a:ln w="5080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 txBox="1"/>
          <p:nvPr/>
        </p:nvSpPr>
        <p:spPr>
          <a:xfrm>
            <a:off x="7040880" y="5010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是否缺失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8558784" y="4965192"/>
            <a:ext cx="0" cy="41148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33" name="Text 30"/>
          <p:cNvSpPr txBox="1"/>
          <p:nvPr/>
        </p:nvSpPr>
        <p:spPr>
          <a:xfrm>
            <a:off x="8668512" y="5010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是否一致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10076688" y="4965192"/>
            <a:ext cx="0" cy="41148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35" name="Text 32"/>
          <p:cNvSpPr txBox="1"/>
          <p:nvPr/>
        </p:nvSpPr>
        <p:spPr>
          <a:xfrm>
            <a:off x="10186416" y="5010912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是否可调用</a:t>
            </a:r>
            <a:endParaRPr lang="en-US" sz="1020" dirty="0"/>
          </a:p>
        </p:txBody>
      </p:sp>
      <p:sp>
        <p:nvSpPr>
          <p:cNvPr id="36" name="Text 33"/>
          <p:cNvSpPr txBox="1"/>
          <p:nvPr/>
        </p:nvSpPr>
        <p:spPr>
          <a:xfrm>
            <a:off x="2724912" y="5632704"/>
            <a:ext cx="7955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资产先拆清楚，画布才是生产系统，而不是素材仓库。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38" name="Text 35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00:18:25</a:t>
            </a:r>
            <a:endParaRPr lang="en-US" sz="620" dirty="0"/>
          </a:p>
        </p:txBody>
      </p:sp>
      <p:sp>
        <p:nvSpPr>
          <p:cNvPr id="39" name="Text 36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40" name="Text 37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SELECTION WORKSPACE / TAKE REVIEW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单镜头候选池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C8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不押注一次生成，用多个候选换取可比较的选择</a:t>
            </a:r>
            <a:endParaRPr lang="en-US" sz="1120" dirty="0"/>
          </a:p>
        </p:txBody>
      </p:sp>
      <p:pic>
        <p:nvPicPr>
          <p:cNvPr id="5" name="候选池工作台" descr="候选池工作台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527048"/>
            <a:ext cx="10972800" cy="299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" y="1527048"/>
            <a:ext cx="3840480" cy="2999232"/>
          </a:xfrm>
          <a:prstGeom prst="rect">
            <a:avLst/>
          </a:prstGeom>
          <a:solidFill>
            <a:srgbClr val="101112">
              <a:alpha val="72000"/>
            </a:srgbClr>
          </a:solidFill>
          <a:ln w="12700">
            <a:solidFill>
              <a:srgbClr val="101112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96112" y="1901952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同一镜头</a:t>
            </a:r>
            <a:endParaRPr lang="en-US" sz="2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多次生成</a:t>
            </a:r>
            <a:endParaRPr lang="en-US" sz="2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按标准留片</a:t>
            </a:r>
            <a:endParaRPr lang="en-US" sz="23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408736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5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FRAME · 25:20</a:t>
            </a:r>
            <a:endParaRPr lang="en-US" sz="650" dirty="0"/>
          </a:p>
        </p:txBody>
      </p:sp>
      <p:sp>
        <p:nvSpPr>
          <p:cNvPr id="9" name="Shape 6"/>
          <p:cNvSpPr/>
          <p:nvPr/>
        </p:nvSpPr>
        <p:spPr>
          <a:xfrm>
            <a:off x="612648" y="4956048"/>
            <a:ext cx="10972800" cy="0"/>
          </a:xfrm>
          <a:prstGeom prst="line">
            <a:avLst/>
          </a:prstGeom>
          <a:noFill/>
          <a:ln w="8890">
            <a:solidFill>
              <a:srgbClr val="727272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 txBox="1"/>
          <p:nvPr/>
        </p:nvSpPr>
        <p:spPr>
          <a:xfrm>
            <a:off x="612648" y="5129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TAKE</a:t>
            </a:r>
            <a:endParaRPr lang="en-US" sz="640" dirty="0"/>
          </a:p>
        </p:txBody>
      </p:sp>
      <p:sp>
        <p:nvSpPr>
          <p:cNvPr id="11" name="Text 8"/>
          <p:cNvSpPr txBox="1"/>
          <p:nvPr/>
        </p:nvSpPr>
        <p:spPr>
          <a:xfrm>
            <a:off x="612648" y="54041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同一个镜头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2715768" y="5285232"/>
            <a:ext cx="502920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 txBox="1"/>
          <p:nvPr/>
        </p:nvSpPr>
        <p:spPr>
          <a:xfrm>
            <a:off x="3474720" y="5129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TAKE</a:t>
            </a:r>
            <a:endParaRPr lang="en-US" sz="640" dirty="0"/>
          </a:p>
        </p:txBody>
      </p:sp>
      <p:sp>
        <p:nvSpPr>
          <p:cNvPr id="14" name="Text 11"/>
          <p:cNvSpPr txBox="1"/>
          <p:nvPr/>
        </p:nvSpPr>
        <p:spPr>
          <a:xfrm>
            <a:off x="3474720" y="54041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并行生成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77840" y="5285232"/>
            <a:ext cx="502920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 txBox="1"/>
          <p:nvPr/>
        </p:nvSpPr>
        <p:spPr>
          <a:xfrm>
            <a:off x="6336792" y="5129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TAKE</a:t>
            </a:r>
            <a:endParaRPr lang="en-US" sz="640" dirty="0"/>
          </a:p>
        </p:txBody>
      </p:sp>
      <p:sp>
        <p:nvSpPr>
          <p:cNvPr id="17" name="Text 14"/>
          <p:cNvSpPr txBox="1"/>
          <p:nvPr/>
        </p:nvSpPr>
        <p:spPr>
          <a:xfrm>
            <a:off x="6336792" y="54041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逐条看片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439912" y="5285232"/>
            <a:ext cx="502920" cy="0"/>
          </a:xfrm>
          <a:prstGeom prst="line">
            <a:avLst/>
          </a:prstGeom>
          <a:noFill/>
          <a:ln w="889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 txBox="1"/>
          <p:nvPr/>
        </p:nvSpPr>
        <p:spPr>
          <a:xfrm>
            <a:off x="9198864" y="51297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TAKE</a:t>
            </a:r>
            <a:endParaRPr lang="en-US" sz="640" dirty="0"/>
          </a:p>
        </p:txBody>
      </p:sp>
      <p:sp>
        <p:nvSpPr>
          <p:cNvPr id="20" name="Text 17"/>
          <p:cNvSpPr txBox="1"/>
          <p:nvPr/>
        </p:nvSpPr>
        <p:spPr>
          <a:xfrm>
            <a:off x="9198864" y="5404104"/>
            <a:ext cx="2103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保留可用段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" y="59527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01</a:t>
            </a:r>
            <a:endParaRPr lang="en-US" sz="590" dirty="0"/>
          </a:p>
        </p:txBody>
      </p:sp>
      <p:sp>
        <p:nvSpPr>
          <p:cNvPr id="22" name="Text 19"/>
          <p:cNvSpPr txBox="1"/>
          <p:nvPr/>
        </p:nvSpPr>
        <p:spPr>
          <a:xfrm>
            <a:off x="1271016" y="5897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1C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主体清楚</a:t>
            </a:r>
            <a:endParaRPr lang="en-US" sz="840" dirty="0"/>
          </a:p>
        </p:txBody>
      </p:sp>
      <p:sp>
        <p:nvSpPr>
          <p:cNvPr id="23" name="Text 20"/>
          <p:cNvSpPr txBox="1"/>
          <p:nvPr/>
        </p:nvSpPr>
        <p:spPr>
          <a:xfrm>
            <a:off x="3474720" y="59527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02</a:t>
            </a:r>
            <a:endParaRPr lang="en-US" sz="590" dirty="0"/>
          </a:p>
        </p:txBody>
      </p:sp>
      <p:sp>
        <p:nvSpPr>
          <p:cNvPr id="24" name="Text 21"/>
          <p:cNvSpPr txBox="1"/>
          <p:nvPr/>
        </p:nvSpPr>
        <p:spPr>
          <a:xfrm>
            <a:off x="4133088" y="5897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1C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关键动作成立</a:t>
            </a:r>
            <a:endParaRPr lang="en-US" sz="840" dirty="0"/>
          </a:p>
        </p:txBody>
      </p:sp>
      <p:sp>
        <p:nvSpPr>
          <p:cNvPr id="25" name="Text 22"/>
          <p:cNvSpPr txBox="1"/>
          <p:nvPr/>
        </p:nvSpPr>
        <p:spPr>
          <a:xfrm>
            <a:off x="6336792" y="59527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03</a:t>
            </a:r>
            <a:endParaRPr lang="en-US" sz="590" dirty="0"/>
          </a:p>
        </p:txBody>
      </p:sp>
      <p:sp>
        <p:nvSpPr>
          <p:cNvPr id="26" name="Text 23"/>
          <p:cNvSpPr txBox="1"/>
          <p:nvPr/>
        </p:nvSpPr>
        <p:spPr>
          <a:xfrm>
            <a:off x="6995160" y="5897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1C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镜头势能可接</a:t>
            </a:r>
            <a:endParaRPr lang="en-US" sz="840" dirty="0"/>
          </a:p>
        </p:txBody>
      </p:sp>
      <p:sp>
        <p:nvSpPr>
          <p:cNvPr id="27" name="Text 24"/>
          <p:cNvSpPr txBox="1"/>
          <p:nvPr/>
        </p:nvSpPr>
        <p:spPr>
          <a:xfrm>
            <a:off x="9198864" y="595274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9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 04</a:t>
            </a:r>
            <a:endParaRPr lang="en-US" sz="590" dirty="0"/>
          </a:p>
        </p:txBody>
      </p:sp>
      <p:sp>
        <p:nvSpPr>
          <p:cNvPr id="28" name="Text 25"/>
          <p:cNvSpPr txBox="1"/>
          <p:nvPr/>
        </p:nvSpPr>
        <p:spPr>
          <a:xfrm>
            <a:off x="9857232" y="58978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40" dirty="0">
                <a:solidFill>
                  <a:srgbClr val="D1CA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光效不破坏连续性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6A6A6A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00:25:20</a:t>
            </a:r>
            <a:endParaRPr lang="en-US" sz="620" dirty="0"/>
          </a:p>
        </p:txBody>
      </p:sp>
      <p:sp>
        <p:nvSpPr>
          <p:cNvPr id="31" name="Text 28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hybrid</a:t>
            </a:r>
            <a:endParaRPr lang="en-US" sz="620" dirty="0"/>
          </a:p>
        </p:txBody>
      </p:sp>
      <p:sp>
        <p:nvSpPr>
          <p:cNvPr id="32" name="Text 29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SHOT DESIGN / CONTROL BOUNDARY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多分镜的约束与自由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锁定必须发生的事，同时给动态构图留出空间</a:t>
            </a:r>
            <a:endParaRPr lang="en-US" sz="1120" dirty="0"/>
          </a:p>
        </p:txBody>
      </p:sp>
      <p:pic>
        <p:nvPicPr>
          <p:cNvPr id="5" name="action_phase_evidence" descr="action_phase_evidenc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636776"/>
            <a:ext cx="3511296" cy="126187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12648" y="1636776"/>
            <a:ext cx="3511296" cy="0"/>
          </a:xfrm>
          <a:prstGeom prst="line">
            <a:avLst/>
          </a:prstGeom>
          <a:noFill/>
          <a:ln w="5080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 txBox="1"/>
          <p:nvPr/>
        </p:nvSpPr>
        <p:spPr>
          <a:xfrm>
            <a:off x="612648" y="2990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ACTION PHASE</a:t>
            </a:r>
            <a:endParaRPr lang="en-US" sz="630" dirty="0"/>
          </a:p>
        </p:txBody>
      </p:sp>
      <p:pic>
        <p:nvPicPr>
          <p:cNvPr id="8" name="camera_goal_evidence" descr="camera_goal_evidenc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343400" y="1636776"/>
            <a:ext cx="3511296" cy="12618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343400" y="1636776"/>
            <a:ext cx="3511296" cy="0"/>
          </a:xfrm>
          <a:prstGeom prst="line">
            <a:avLst/>
          </a:prstGeom>
          <a:noFill/>
          <a:ln w="5080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0" name="Text 6"/>
          <p:cNvSpPr txBox="1"/>
          <p:nvPr/>
        </p:nvSpPr>
        <p:spPr>
          <a:xfrm>
            <a:off x="4343400" y="2990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CAMERA GOAL</a:t>
            </a:r>
            <a:endParaRPr lang="en-US" sz="630" dirty="0"/>
          </a:p>
        </p:txBody>
      </p:sp>
      <p:pic>
        <p:nvPicPr>
          <p:cNvPr id="11" name="selection_boundary_evidence" descr="selection_boundary_evidenc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74152" y="1636776"/>
            <a:ext cx="3511296" cy="1261872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8074152" y="1636776"/>
            <a:ext cx="3511296" cy="0"/>
          </a:xfrm>
          <a:prstGeom prst="line">
            <a:avLst/>
          </a:prstGeom>
          <a:noFill/>
          <a:ln w="5080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3" name="Text 8"/>
          <p:cNvSpPr txBox="1"/>
          <p:nvPr/>
        </p:nvSpPr>
        <p:spPr>
          <a:xfrm>
            <a:off x="8074152" y="299008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SELECTION</a:t>
            </a:r>
            <a:endParaRPr lang="en-US" sz="630" dirty="0"/>
          </a:p>
        </p:txBody>
      </p:sp>
      <p:sp>
        <p:nvSpPr>
          <p:cNvPr id="14" name="Text 9"/>
          <p:cNvSpPr txBox="1"/>
          <p:nvPr/>
        </p:nvSpPr>
        <p:spPr>
          <a:xfrm>
            <a:off x="612648" y="35021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700" dirty="0"/>
          </a:p>
        </p:txBody>
      </p:sp>
      <p:sp>
        <p:nvSpPr>
          <p:cNvPr id="15" name="Text 10"/>
          <p:cNvSpPr txBox="1"/>
          <p:nvPr/>
        </p:nvSpPr>
        <p:spPr>
          <a:xfrm>
            <a:off x="612648" y="42245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动作阶段</a:t>
            </a:r>
            <a:endParaRPr lang="en-US" sz="1550" dirty="0"/>
          </a:p>
        </p:txBody>
      </p:sp>
      <p:sp>
        <p:nvSpPr>
          <p:cNvPr id="16" name="Text 11"/>
          <p:cNvSpPr txBox="1"/>
          <p:nvPr/>
        </p:nvSpPr>
        <p:spPr>
          <a:xfrm>
            <a:off x="612648" y="4754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640" dirty="0"/>
          </a:p>
        </p:txBody>
      </p:sp>
      <p:sp>
        <p:nvSpPr>
          <p:cNvPr id="17" name="Text 12"/>
          <p:cNvSpPr txBox="1"/>
          <p:nvPr/>
        </p:nvSpPr>
        <p:spPr>
          <a:xfrm>
            <a:off x="1188720" y="4645152"/>
            <a:ext cx="2505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进入、冲突、收尾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612648" y="52395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640" dirty="0"/>
          </a:p>
        </p:txBody>
      </p:sp>
      <p:sp>
        <p:nvSpPr>
          <p:cNvPr id="19" name="Text 14"/>
          <p:cNvSpPr txBox="1"/>
          <p:nvPr/>
        </p:nvSpPr>
        <p:spPr>
          <a:xfrm>
            <a:off x="1188720" y="512978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动作细节与身体姿态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270248" y="3547872"/>
            <a:ext cx="0" cy="2148840"/>
          </a:xfrm>
          <a:prstGeom prst="line">
            <a:avLst/>
          </a:prstGeom>
          <a:noFill/>
          <a:ln w="1016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1" name="Text 16"/>
          <p:cNvSpPr txBox="1"/>
          <p:nvPr/>
        </p:nvSpPr>
        <p:spPr>
          <a:xfrm>
            <a:off x="4544568" y="35021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700" dirty="0"/>
          </a:p>
        </p:txBody>
      </p:sp>
      <p:sp>
        <p:nvSpPr>
          <p:cNvPr id="22" name="Text 17"/>
          <p:cNvSpPr txBox="1"/>
          <p:nvPr/>
        </p:nvSpPr>
        <p:spPr>
          <a:xfrm>
            <a:off x="4544568" y="42245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镜头目标</a:t>
            </a:r>
            <a:endParaRPr lang="en-US" sz="1550" dirty="0"/>
          </a:p>
        </p:txBody>
      </p:sp>
      <p:sp>
        <p:nvSpPr>
          <p:cNvPr id="23" name="Text 18"/>
          <p:cNvSpPr txBox="1"/>
          <p:nvPr/>
        </p:nvSpPr>
        <p:spPr>
          <a:xfrm>
            <a:off x="4544568" y="4754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640" dirty="0"/>
          </a:p>
        </p:txBody>
      </p:sp>
      <p:sp>
        <p:nvSpPr>
          <p:cNvPr id="24" name="Text 19"/>
          <p:cNvSpPr txBox="1"/>
          <p:nvPr/>
        </p:nvSpPr>
        <p:spPr>
          <a:xfrm>
            <a:off x="5120640" y="4645152"/>
            <a:ext cx="2505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景别、方向、运动目的</a:t>
            </a:r>
            <a:endParaRPr lang="en-US" sz="1000" dirty="0"/>
          </a:p>
        </p:txBody>
      </p:sp>
      <p:sp>
        <p:nvSpPr>
          <p:cNvPr id="25" name="Text 20"/>
          <p:cNvSpPr txBox="1"/>
          <p:nvPr/>
        </p:nvSpPr>
        <p:spPr>
          <a:xfrm>
            <a:off x="4544568" y="52395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640" dirty="0"/>
          </a:p>
        </p:txBody>
      </p:sp>
      <p:sp>
        <p:nvSpPr>
          <p:cNvPr id="26" name="Text 21"/>
          <p:cNvSpPr txBox="1"/>
          <p:nvPr/>
        </p:nvSpPr>
        <p:spPr>
          <a:xfrm>
            <a:off x="5120640" y="512978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动态构图与局部变化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7927848" y="3547872"/>
            <a:ext cx="0" cy="2148840"/>
          </a:xfrm>
          <a:prstGeom prst="line">
            <a:avLst/>
          </a:prstGeom>
          <a:noFill/>
          <a:ln w="1016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8" name="Text 23"/>
          <p:cNvSpPr txBox="1"/>
          <p:nvPr/>
        </p:nvSpPr>
        <p:spPr>
          <a:xfrm>
            <a:off x="8202168" y="3502152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7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700" dirty="0"/>
          </a:p>
        </p:txBody>
      </p:sp>
      <p:sp>
        <p:nvSpPr>
          <p:cNvPr id="29" name="Text 24"/>
          <p:cNvSpPr txBox="1"/>
          <p:nvPr/>
        </p:nvSpPr>
        <p:spPr>
          <a:xfrm>
            <a:off x="8202168" y="4224528"/>
            <a:ext cx="25603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验收边界</a:t>
            </a:r>
            <a:endParaRPr lang="en-US" sz="1550" dirty="0"/>
          </a:p>
        </p:txBody>
      </p:sp>
      <p:sp>
        <p:nvSpPr>
          <p:cNvPr id="30" name="Text 25"/>
          <p:cNvSpPr txBox="1"/>
          <p:nvPr/>
        </p:nvSpPr>
        <p:spPr>
          <a:xfrm>
            <a:off x="8202168" y="4754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LOCK</a:t>
            </a:r>
            <a:endParaRPr lang="en-US" sz="640" dirty="0"/>
          </a:p>
        </p:txBody>
      </p:sp>
      <p:sp>
        <p:nvSpPr>
          <p:cNvPr id="31" name="Text 26"/>
          <p:cNvSpPr txBox="1"/>
          <p:nvPr/>
        </p:nvSpPr>
        <p:spPr>
          <a:xfrm>
            <a:off x="8778240" y="4645152"/>
            <a:ext cx="25054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必须保留的动作势能</a:t>
            </a:r>
            <a:endParaRPr lang="en-US" sz="1000" dirty="0"/>
          </a:p>
        </p:txBody>
      </p:sp>
      <p:sp>
        <p:nvSpPr>
          <p:cNvPr id="32" name="Text 27"/>
          <p:cNvSpPr txBox="1"/>
          <p:nvPr/>
        </p:nvSpPr>
        <p:spPr>
          <a:xfrm>
            <a:off x="8202168" y="5239512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FREE</a:t>
            </a:r>
            <a:endParaRPr lang="en-US" sz="640" dirty="0"/>
          </a:p>
        </p:txBody>
      </p:sp>
      <p:sp>
        <p:nvSpPr>
          <p:cNvPr id="33" name="Text 28"/>
          <p:cNvSpPr txBox="1"/>
          <p:nvPr/>
        </p:nvSpPr>
        <p:spPr>
          <a:xfrm>
            <a:off x="8778240" y="5129784"/>
            <a:ext cx="2606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模型可贡献的意外结果</a:t>
            </a:r>
            <a:endParaRPr lang="en-US" sz="1000" dirty="0"/>
          </a:p>
        </p:txBody>
      </p:sp>
      <p:sp>
        <p:nvSpPr>
          <p:cNvPr id="34" name="Text 29"/>
          <p:cNvSpPr txBox="1"/>
          <p:nvPr/>
        </p:nvSpPr>
        <p:spPr>
          <a:xfrm>
            <a:off x="612648" y="59436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控制镜头意图，不必控制每一个像素。</a:t>
            </a:r>
            <a:endParaRPr lang="en-US" sz="1320" dirty="0"/>
          </a:p>
        </p:txBody>
      </p:sp>
      <p:sp>
        <p:nvSpPr>
          <p:cNvPr id="35" name="Shape 30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36" name="Text 31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00:30:00</a:t>
            </a:r>
            <a:endParaRPr lang="en-US" sz="620" dirty="0"/>
          </a:p>
        </p:txBody>
      </p:sp>
      <p:sp>
        <p:nvSpPr>
          <p:cNvPr id="37" name="Text 32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38" name="Text 33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 CONTINUITY CHECK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连续性在后期完成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C8C2B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不同生成段要被剪成同一个故事</a:t>
            </a:r>
            <a:endParaRPr lang="en-US" sz="1120" dirty="0"/>
          </a:p>
        </p:txBody>
      </p:sp>
      <p:pic>
        <p:nvPicPr>
          <p:cNvPr id="5" name="人物与字幕层级" descr="人物与字幕层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12648" y="1380744"/>
            <a:ext cx="4828032" cy="2313432"/>
          </a:xfrm>
          <a:prstGeom prst="rect">
            <a:avLst/>
          </a:prstGeom>
        </p:spPr>
      </p:pic>
      <p:pic>
        <p:nvPicPr>
          <p:cNvPr id="6" name="剪辑时间线" descr="剪辑时间线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50992" y="1380744"/>
            <a:ext cx="5934456" cy="231343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12648" y="1380744"/>
            <a:ext cx="4828032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8" name="Shape 4"/>
          <p:cNvSpPr/>
          <p:nvPr/>
        </p:nvSpPr>
        <p:spPr>
          <a:xfrm>
            <a:off x="5650992" y="1380744"/>
            <a:ext cx="593445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9" name="Text 5"/>
          <p:cNvSpPr txBox="1"/>
          <p:nvPr/>
        </p:nvSpPr>
        <p:spPr>
          <a:xfrm>
            <a:off x="612648" y="3794760"/>
            <a:ext cx="3017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FRAME · 33:54 / LAYER OPERATION</a:t>
            </a:r>
            <a:endParaRPr lang="en-US" sz="630" dirty="0"/>
          </a:p>
        </p:txBody>
      </p:sp>
      <p:sp>
        <p:nvSpPr>
          <p:cNvPr id="10" name="Text 6"/>
          <p:cNvSpPr txBox="1"/>
          <p:nvPr/>
        </p:nvSpPr>
        <p:spPr>
          <a:xfrm>
            <a:off x="5650992" y="3794760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FRAME · 36:40 / EDITING TIMELINE</a:t>
            </a:r>
            <a:endParaRPr lang="en-US" sz="630" dirty="0"/>
          </a:p>
        </p:txBody>
      </p:sp>
      <p:sp>
        <p:nvSpPr>
          <p:cNvPr id="11" name="Text 7"/>
          <p:cNvSpPr txBox="1"/>
          <p:nvPr/>
        </p:nvSpPr>
        <p:spPr>
          <a:xfrm>
            <a:off x="612648" y="41605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人物抠像 → 字幕置后 → 背景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12648" y="4828032"/>
            <a:ext cx="10972800" cy="0"/>
          </a:xfrm>
          <a:prstGeom prst="line">
            <a:avLst/>
          </a:prstGeom>
          <a:noFill/>
          <a:ln w="8890">
            <a:solidFill>
              <a:srgbClr val="777777"/>
            </a:solidFill>
            <a:prstDash val="solid"/>
            <a:headEnd type="none"/>
            <a:tailEnd type="none"/>
          </a:ln>
        </p:spPr>
      </p:sp>
      <p:sp>
        <p:nvSpPr>
          <p:cNvPr id="13" name="Text 9"/>
          <p:cNvSpPr txBox="1"/>
          <p:nvPr/>
        </p:nvSpPr>
        <p:spPr>
          <a:xfrm>
            <a:off x="612648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30" dirty="0"/>
          </a:p>
        </p:txBody>
      </p:sp>
      <p:sp>
        <p:nvSpPr>
          <p:cNvPr id="14" name="Text 10"/>
          <p:cNvSpPr txBox="1"/>
          <p:nvPr/>
        </p:nvSpPr>
        <p:spPr>
          <a:xfrm>
            <a:off x="612648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动作方向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441448" y="4828032"/>
            <a:ext cx="0" cy="74980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6" name="Text 12"/>
          <p:cNvSpPr txBox="1"/>
          <p:nvPr/>
        </p:nvSpPr>
        <p:spPr>
          <a:xfrm>
            <a:off x="2569464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30" dirty="0"/>
          </a:p>
        </p:txBody>
      </p:sp>
      <p:sp>
        <p:nvSpPr>
          <p:cNvPr id="17" name="Text 13"/>
          <p:cNvSpPr txBox="1"/>
          <p:nvPr/>
        </p:nvSpPr>
        <p:spPr>
          <a:xfrm>
            <a:off x="2569464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镜头运动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270248" y="4828032"/>
            <a:ext cx="0" cy="74980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19" name="Text 15"/>
          <p:cNvSpPr txBox="1"/>
          <p:nvPr/>
        </p:nvSpPr>
        <p:spPr>
          <a:xfrm>
            <a:off x="4398264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30" dirty="0"/>
          </a:p>
        </p:txBody>
      </p:sp>
      <p:sp>
        <p:nvSpPr>
          <p:cNvPr id="20" name="Text 16"/>
          <p:cNvSpPr txBox="1"/>
          <p:nvPr/>
        </p:nvSpPr>
        <p:spPr>
          <a:xfrm>
            <a:off x="4398264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099048" y="4828032"/>
            <a:ext cx="0" cy="74980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2" name="Text 18"/>
          <p:cNvSpPr txBox="1"/>
          <p:nvPr/>
        </p:nvSpPr>
        <p:spPr>
          <a:xfrm>
            <a:off x="6227064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30" dirty="0"/>
          </a:p>
        </p:txBody>
      </p:sp>
      <p:sp>
        <p:nvSpPr>
          <p:cNvPr id="23" name="Text 19"/>
          <p:cNvSpPr txBox="1"/>
          <p:nvPr/>
        </p:nvSpPr>
        <p:spPr>
          <a:xfrm>
            <a:off x="6227064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光线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7927848" y="4828032"/>
            <a:ext cx="0" cy="74980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5" name="Text 21"/>
          <p:cNvSpPr txBox="1"/>
          <p:nvPr/>
        </p:nvSpPr>
        <p:spPr>
          <a:xfrm>
            <a:off x="8055864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630" dirty="0"/>
          </a:p>
        </p:txBody>
      </p:sp>
      <p:sp>
        <p:nvSpPr>
          <p:cNvPr id="26" name="Text 22"/>
          <p:cNvSpPr txBox="1"/>
          <p:nvPr/>
        </p:nvSpPr>
        <p:spPr>
          <a:xfrm>
            <a:off x="8055864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色温 / 调色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9756648" y="4828032"/>
            <a:ext cx="0" cy="749808"/>
          </a:xfrm>
          <a:prstGeom prst="line">
            <a:avLst/>
          </a:prstGeom>
          <a:noFill/>
          <a:ln w="635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28" name="Text 24"/>
          <p:cNvSpPr txBox="1"/>
          <p:nvPr/>
        </p:nvSpPr>
        <p:spPr>
          <a:xfrm>
            <a:off x="9884664" y="5020056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30" b="1" spc="120" kern="0" dirty="0">
                <a:solidFill>
                  <a:srgbClr val="F34A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630" dirty="0"/>
          </a:p>
        </p:txBody>
      </p:sp>
      <p:sp>
        <p:nvSpPr>
          <p:cNvPr id="29" name="Text 25"/>
          <p:cNvSpPr txBox="1"/>
          <p:nvPr/>
        </p:nvSpPr>
        <p:spPr>
          <a:xfrm>
            <a:off x="9884664" y="5340096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前后镜头逻辑</a:t>
            </a:r>
            <a:endParaRPr lang="en-US" sz="1000" dirty="0"/>
          </a:p>
        </p:txBody>
      </p:sp>
      <p:sp>
        <p:nvSpPr>
          <p:cNvPr id="30" name="Text 26"/>
          <p:cNvSpPr txBox="1"/>
          <p:nvPr/>
        </p:nvSpPr>
        <p:spPr>
          <a:xfrm>
            <a:off x="612648" y="5943600"/>
            <a:ext cx="9235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30" dirty="0">
                <a:solidFill>
                  <a:srgbClr val="D2CBC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连续性既影响选片，也反过来影响生成时的镜头设计。</a:t>
            </a:r>
            <a:endParaRPr lang="en-US" sz="1130" dirty="0"/>
          </a:p>
        </p:txBody>
      </p:sp>
      <p:sp>
        <p:nvSpPr>
          <p:cNvPr id="31" name="Shape 27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6A6A6A"/>
            </a:solidFill>
            <a:prstDash val="solid"/>
            <a:headEnd type="none"/>
            <a:tailEnd type="none"/>
          </a:ln>
        </p:spPr>
      </p:sp>
      <p:sp>
        <p:nvSpPr>
          <p:cNvPr id="32" name="Text 28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00:33:54 / 00:36:40</a:t>
            </a:r>
            <a:endParaRPr lang="en-US" sz="620" dirty="0"/>
          </a:p>
        </p:txBody>
      </p:sp>
      <p:sp>
        <p:nvSpPr>
          <p:cNvPr id="33" name="Text 29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hybrid</a:t>
            </a:r>
            <a:endParaRPr lang="en-US" sz="620" dirty="0"/>
          </a:p>
        </p:txBody>
      </p:sp>
      <p:sp>
        <p:nvSpPr>
          <p:cNvPr id="34" name="Text 30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 / FEEDBACK LOOP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可控创作的完整闭环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每一步都产生下一步可以判断的输入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12648" y="2240280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612648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12648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3200400" y="2240280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3200400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3200400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资产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5788152" y="2240280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 txBox="1"/>
          <p:nvPr/>
        </p:nvSpPr>
        <p:spPr>
          <a:xfrm>
            <a:off x="5788152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5788152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8375904" y="2240280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 txBox="1"/>
          <p:nvPr/>
        </p:nvSpPr>
        <p:spPr>
          <a:xfrm>
            <a:off x="8375904" y="2359152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375904" y="273405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612648" y="4169664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612648" y="42885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612648" y="4663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3200400" y="4169664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 txBox="1"/>
          <p:nvPr/>
        </p:nvSpPr>
        <p:spPr>
          <a:xfrm>
            <a:off x="3200400" y="42885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0" y="4663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</a:t>
            </a:r>
            <a:endParaRPr lang="en-US" sz="1140" dirty="0"/>
          </a:p>
        </p:txBody>
      </p:sp>
      <p:sp>
        <p:nvSpPr>
          <p:cNvPr id="23" name="Shape 21"/>
          <p:cNvSpPr/>
          <p:nvPr/>
        </p:nvSpPr>
        <p:spPr>
          <a:xfrm>
            <a:off x="5788152" y="4169664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 txBox="1"/>
          <p:nvPr/>
        </p:nvSpPr>
        <p:spPr>
          <a:xfrm>
            <a:off x="5788152" y="42885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5788152" y="4663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剪辑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8375904" y="4169664"/>
            <a:ext cx="2057400" cy="0"/>
          </a:xfrm>
          <a:prstGeom prst="line">
            <a:avLst/>
          </a:prstGeom>
          <a:noFill/>
          <a:ln w="1524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 txBox="1"/>
          <p:nvPr/>
        </p:nvSpPr>
        <p:spPr>
          <a:xfrm>
            <a:off x="8375904" y="4288536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8375904" y="466344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133856" y="3054096"/>
            <a:ext cx="8083296" cy="0"/>
          </a:xfrm>
          <a:prstGeom prst="line">
            <a:avLst/>
          </a:prstGeom>
          <a:noFill/>
          <a:ln w="10160">
            <a:solidFill>
              <a:srgbClr val="F34A2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217152" y="3054096"/>
            <a:ext cx="0" cy="1234440"/>
          </a:xfrm>
          <a:prstGeom prst="line">
            <a:avLst/>
          </a:prstGeom>
          <a:noFill/>
          <a:ln w="10160">
            <a:solidFill>
              <a:srgbClr val="F34A2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217152" y="4288536"/>
            <a:ext cx="-8083296" cy="0"/>
          </a:xfrm>
          <a:prstGeom prst="line">
            <a:avLst/>
          </a:prstGeom>
          <a:noFill/>
          <a:ln w="10160">
            <a:solidFill>
              <a:srgbClr val="F34A2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765792" y="4818888"/>
            <a:ext cx="1078992" cy="0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none"/>
          </a:ln>
        </p:spPr>
      </p:sp>
      <p:sp>
        <p:nvSpPr>
          <p:cNvPr id="33" name="Shape 31"/>
          <p:cNvSpPr/>
          <p:nvPr/>
        </p:nvSpPr>
        <p:spPr>
          <a:xfrm>
            <a:off x="10844784" y="4818888"/>
            <a:ext cx="0" cy="-2542032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none"/>
          </a:ln>
        </p:spPr>
      </p:sp>
      <p:sp>
        <p:nvSpPr>
          <p:cNvPr id="34" name="Shape 32"/>
          <p:cNvSpPr/>
          <p:nvPr/>
        </p:nvSpPr>
        <p:spPr>
          <a:xfrm>
            <a:off x="10844784" y="2276856"/>
            <a:ext cx="-896112" cy="0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3749040" y="4846320"/>
            <a:ext cx="0" cy="256032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none"/>
          </a:ln>
        </p:spPr>
      </p:sp>
      <p:sp>
        <p:nvSpPr>
          <p:cNvPr id="36" name="Shape 34"/>
          <p:cNvSpPr/>
          <p:nvPr/>
        </p:nvSpPr>
        <p:spPr>
          <a:xfrm>
            <a:off x="3749040" y="5102352"/>
            <a:ext cx="5806440" cy="0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none"/>
          </a:ln>
        </p:spPr>
      </p:sp>
      <p:sp>
        <p:nvSpPr>
          <p:cNvPr id="37" name="Shape 35"/>
          <p:cNvSpPr/>
          <p:nvPr/>
        </p:nvSpPr>
        <p:spPr>
          <a:xfrm>
            <a:off x="9555480" y="5102352"/>
            <a:ext cx="0" cy="-256032"/>
          </a:xfrm>
          <a:prstGeom prst="line">
            <a:avLst/>
          </a:prstGeom>
          <a:noFill/>
          <a:ln w="6985">
            <a:solidFill>
              <a:srgbClr val="F34A2A"/>
            </a:solidFill>
            <a:prstDash val="dash"/>
            <a:headEnd type="none"/>
            <a:tailEnd type="triangle"/>
          </a:ln>
        </p:spPr>
      </p:sp>
      <p:sp>
        <p:nvSpPr>
          <p:cNvPr id="38" name="Text 36"/>
          <p:cNvSpPr txBox="1"/>
          <p:nvPr/>
        </p:nvSpPr>
        <p:spPr>
          <a:xfrm>
            <a:off x="2788920" y="5358384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候选不足：返回生成</a:t>
            </a:r>
            <a:endParaRPr lang="en-US" sz="64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535838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4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连续性不足：返回选片或镜头设计</a:t>
            </a:r>
            <a:endParaRPr lang="en-US" sz="640" dirty="0"/>
          </a:p>
        </p:txBody>
      </p:sp>
      <p:sp>
        <p:nvSpPr>
          <p:cNvPr id="40" name="Text 38"/>
          <p:cNvSpPr txBox="1"/>
          <p:nvPr/>
        </p:nvSpPr>
        <p:spPr>
          <a:xfrm>
            <a:off x="612648" y="5971032"/>
            <a:ext cx="94183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可控不是消除随机，而是让随机结果进入可判断、可回退的流程。</a:t>
            </a:r>
            <a:endParaRPr lang="en-US" sz="1270" dirty="0"/>
          </a:p>
        </p:txBody>
      </p:sp>
      <p:sp>
        <p:nvSpPr>
          <p:cNvPr id="41" name="Shape 39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42" name="Text 40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17 · METHOD DECK</a:t>
            </a:r>
            <a:endParaRPr lang="en-US" sz="620" dirty="0"/>
          </a:p>
        </p:txBody>
      </p:sp>
      <p:sp>
        <p:nvSpPr>
          <p:cNvPr id="43" name="Text 41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44" name="Text 42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12648" y="356616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40" b="1" spc="120" kern="0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PLAYBOOK / FIVE PRINCIPLES</a:t>
            </a:r>
            <a:endParaRPr lang="en-US" sz="740" dirty="0"/>
          </a:p>
        </p:txBody>
      </p:sp>
      <p:sp>
        <p:nvSpPr>
          <p:cNvPr id="3" name="Text 1"/>
          <p:cNvSpPr txBox="1"/>
          <p:nvPr/>
        </p:nvSpPr>
        <p:spPr>
          <a:xfrm>
            <a:off x="612648" y="658368"/>
            <a:ext cx="9052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750" b="1" spc="-110" kern="0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五条行动原则</a:t>
            </a:r>
            <a:endParaRPr lang="en-US" sz="27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97864"/>
            <a:ext cx="9875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20" dirty="0">
                <a:solidFill>
                  <a:srgbClr val="67635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把方法变成下一次创作可以直接执行的检查</a:t>
            </a:r>
            <a:endParaRPr lang="en-US" sz="1120" dirty="0"/>
          </a:p>
        </p:txBody>
      </p:sp>
      <p:sp>
        <p:nvSpPr>
          <p:cNvPr id="5" name="Shape 3"/>
          <p:cNvSpPr/>
          <p:nvPr/>
        </p:nvSpPr>
        <p:spPr>
          <a:xfrm>
            <a:off x="612648" y="1819656"/>
            <a:ext cx="10972800" cy="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 txBox="1"/>
          <p:nvPr/>
        </p:nvSpPr>
        <p:spPr>
          <a:xfrm>
            <a:off x="612648" y="1901952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88366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先写评价标准，再生成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0908792" y="2075688"/>
            <a:ext cx="484632" cy="0"/>
          </a:xfrm>
          <a:prstGeom prst="line">
            <a:avLst/>
          </a:prstGeom>
          <a:noFill/>
          <a:ln w="2032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612648" y="2514600"/>
            <a:ext cx="10972800" cy="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10" name="Text 8"/>
          <p:cNvSpPr txBox="1"/>
          <p:nvPr/>
        </p:nvSpPr>
        <p:spPr>
          <a:xfrm>
            <a:off x="612648" y="2596896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572768" y="257860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先核对资产，再写镜头</a:t>
            </a:r>
            <a:endParaRPr lang="en-US" sz="1270" dirty="0"/>
          </a:p>
        </p:txBody>
      </p:sp>
      <p:sp>
        <p:nvSpPr>
          <p:cNvPr id="12" name="Shape 10"/>
          <p:cNvSpPr/>
          <p:nvPr/>
        </p:nvSpPr>
        <p:spPr>
          <a:xfrm>
            <a:off x="10908792" y="2770632"/>
            <a:ext cx="484632" cy="0"/>
          </a:xfrm>
          <a:prstGeom prst="line">
            <a:avLst/>
          </a:prstGeom>
          <a:noFill/>
          <a:ln w="2032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612648" y="3209544"/>
            <a:ext cx="10972800" cy="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 txBox="1"/>
          <p:nvPr/>
        </p:nvSpPr>
        <p:spPr>
          <a:xfrm>
            <a:off x="612648" y="3291840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572768" y="327355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建候选池，不押单次结果</a:t>
            </a:r>
            <a:endParaRPr lang="en-US" sz="1270" dirty="0"/>
          </a:p>
        </p:txBody>
      </p:sp>
      <p:sp>
        <p:nvSpPr>
          <p:cNvPr id="16" name="Shape 14"/>
          <p:cNvSpPr/>
          <p:nvPr/>
        </p:nvSpPr>
        <p:spPr>
          <a:xfrm>
            <a:off x="10908792" y="3465576"/>
            <a:ext cx="484632" cy="0"/>
          </a:xfrm>
          <a:prstGeom prst="line">
            <a:avLst/>
          </a:prstGeom>
          <a:noFill/>
          <a:ln w="2032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612648" y="3904488"/>
            <a:ext cx="10972800" cy="0"/>
          </a:xfrm>
          <a:prstGeom prst="line">
            <a:avLst/>
          </a:prstGeom>
          <a:noFill/>
          <a:ln w="6350">
            <a:solidFill>
              <a:srgbClr val="AFA89C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 txBox="1"/>
          <p:nvPr/>
        </p:nvSpPr>
        <p:spPr>
          <a:xfrm>
            <a:off x="612648" y="3986784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72768" y="396849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1011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连续性既是剪辑问题，也是生成问题</a:t>
            </a:r>
            <a:endParaRPr lang="en-US" sz="1270" dirty="0"/>
          </a:p>
        </p:txBody>
      </p:sp>
      <p:sp>
        <p:nvSpPr>
          <p:cNvPr id="20" name="Shape 18"/>
          <p:cNvSpPr/>
          <p:nvPr/>
        </p:nvSpPr>
        <p:spPr>
          <a:xfrm>
            <a:off x="10908792" y="4160520"/>
            <a:ext cx="484632" cy="0"/>
          </a:xfrm>
          <a:prstGeom prst="line">
            <a:avLst/>
          </a:prstGeom>
          <a:noFill/>
          <a:ln w="20320">
            <a:solidFill>
              <a:srgbClr val="101112"/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475488" y="4608576"/>
            <a:ext cx="11228832" cy="621792"/>
          </a:xfrm>
          <a:prstGeom prst="rect">
            <a:avLst/>
          </a:prstGeom>
          <a:solidFill>
            <a:srgbClr val="101112"/>
          </a:solidFill>
          <a:ln w="12700">
            <a:solidFill>
              <a:srgbClr val="10111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4681728"/>
            <a:ext cx="594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1572768" y="466344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工具提供可能性，最终判断仍属于创作者</a:t>
            </a:r>
            <a:endParaRPr lang="en-US" sz="1270" dirty="0"/>
          </a:p>
        </p:txBody>
      </p:sp>
      <p:sp>
        <p:nvSpPr>
          <p:cNvPr id="24" name="Shape 22"/>
          <p:cNvSpPr/>
          <p:nvPr/>
        </p:nvSpPr>
        <p:spPr>
          <a:xfrm>
            <a:off x="10908792" y="4855464"/>
            <a:ext cx="484632" cy="0"/>
          </a:xfrm>
          <a:prstGeom prst="line">
            <a:avLst/>
          </a:prstGeom>
          <a:noFill/>
          <a:ln w="20320">
            <a:solidFill>
              <a:srgbClr val="F34A2A"/>
            </a:solidFill>
            <a:prstDash val="solid"/>
            <a:headEnd type="none"/>
            <a:tailEnd type="none"/>
          </a:ln>
        </p:spPr>
      </p:sp>
      <p:sp>
        <p:nvSpPr>
          <p:cNvPr id="25" name="Shape 23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2A2926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17 · METHOD DECK</a:t>
            </a:r>
            <a:endParaRPr lang="en-US" sz="620" dirty="0"/>
          </a:p>
        </p:txBody>
      </p:sp>
      <p:sp>
        <p:nvSpPr>
          <p:cNvPr id="27" name="Text 25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6763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object</a:t>
            </a:r>
            <a:endParaRPr lang="en-US" sz="620" dirty="0"/>
          </a:p>
        </p:txBody>
      </p:sp>
      <p:sp>
        <p:nvSpPr>
          <p:cNvPr id="28" name="Text 26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10111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11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I 视频结尾关键帧" descr="AI 视频结尾关键帧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309360" cy="6858000"/>
          </a:xfrm>
          <a:prstGeom prst="rect">
            <a:avLst/>
          </a:prstGeom>
          <a:solidFill>
            <a:srgbClr val="101112">
              <a:alpha val="84000"/>
            </a:srgbClr>
          </a:solidFill>
          <a:ln w="12700">
            <a:solidFill>
              <a:srgbClr val="101112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5303520"/>
            <a:ext cx="12191695" cy="1554480"/>
          </a:xfrm>
          <a:prstGeom prst="rect">
            <a:avLst/>
          </a:prstGeom>
          <a:solidFill>
            <a:srgbClr val="000000">
              <a:alpha val="7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502920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30" b="1" spc="12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 CUT · CREATIVE JUDGEMENT</a:t>
            </a:r>
            <a:endParaRPr lang="en-US" sz="730" dirty="0"/>
          </a:p>
        </p:txBody>
      </p:sp>
      <p:sp>
        <p:nvSpPr>
          <p:cNvPr id="6" name="Text 3"/>
          <p:cNvSpPr txBox="1"/>
          <p:nvPr/>
        </p:nvSpPr>
        <p:spPr>
          <a:xfrm>
            <a:off x="10424160" y="50292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" b="1" spc="120" kern="0" dirty="0">
                <a:solidFill>
                  <a:srgbClr val="57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00:42:52:00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694944" y="2852928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00" b="1" spc="-110" kern="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工具提供可能性</a:t>
            </a:r>
            <a:endParaRPr lang="en-US" sz="3100" dirty="0"/>
          </a:p>
        </p:txBody>
      </p:sp>
      <p:sp>
        <p:nvSpPr>
          <p:cNvPr id="8" name="Text 5"/>
          <p:cNvSpPr txBox="1"/>
          <p:nvPr/>
        </p:nvSpPr>
        <p:spPr>
          <a:xfrm>
            <a:off x="694944" y="3520440"/>
            <a:ext cx="6583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F34A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创作者完成最后一次选择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694944" y="6053328"/>
            <a:ext cx="10789920" cy="0"/>
          </a:xfrm>
          <a:prstGeom prst="line">
            <a:avLst/>
          </a:prstGeom>
          <a:noFill/>
          <a:ln w="8890">
            <a:solidFill>
              <a:srgbClr val="6A6A6A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12648" y="6446520"/>
            <a:ext cx="10972800" cy="0"/>
          </a:xfrm>
          <a:prstGeom prst="line">
            <a:avLst/>
          </a:prstGeom>
          <a:noFill/>
          <a:ln w="5715">
            <a:solidFill>
              <a:srgbClr val="6A6A6A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 txBox="1"/>
          <p:nvPr/>
        </p:nvSpPr>
        <p:spPr>
          <a:xfrm>
            <a:off x="612648" y="6547104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CASE 13 · 00:40:00</a:t>
            </a:r>
            <a:endParaRPr lang="en-US" sz="620" dirty="0"/>
          </a:p>
        </p:txBody>
      </p:sp>
      <p:sp>
        <p:nvSpPr>
          <p:cNvPr id="12" name="Text 9"/>
          <p:cNvSpPr txBox="1"/>
          <p:nvPr/>
        </p:nvSpPr>
        <p:spPr>
          <a:xfrm>
            <a:off x="9372600" y="6547104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20" b="1" spc="120" kern="0" dirty="0">
                <a:solidFill>
                  <a:srgbClr val="AAA49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render_mode: hero</a:t>
            </a:r>
            <a:endParaRPr lang="en-US" sz="620" dirty="0"/>
          </a:p>
        </p:txBody>
      </p:sp>
      <p:sp>
        <p:nvSpPr>
          <p:cNvPr id="13" name="Text 10"/>
          <p:cNvSpPr txBox="1"/>
          <p:nvPr/>
        </p:nvSpPr>
        <p:spPr>
          <a:xfrm>
            <a:off x="11045952" y="652881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10</a:t>
            </a:r>
            <a:endParaRPr lang="en-US" sz="7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565392"/>
            <a:ext cx="411480" cy="14630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67635C"/>
                </a:solidFill>
                <a:latin typeface="Consolas"/>
                <a:ea typeface="Consolas"/>
                <a:cs typeface="Consola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Case 17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把 AI 视频从“抽卡”变成可控创作</dc:title>
  <dc:subject>AI video creative control methodology</dc:subject>
  <dc:creator>Case 17 / Codex</dc:creator>
  <cp:lastModifiedBy>Case 17 / Codex</cp:lastModifiedBy>
  <cp:revision>1</cp:revision>
  <dcterms:created xsi:type="dcterms:W3CDTF">2026-09-21T13:12:33Z</dcterms:created>
  <dcterms:modified xsi:type="dcterms:W3CDTF">2026-09-21T13:12:33Z</dcterms:modified>
</cp:coreProperties>
</file>